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3" roundtripDataSignature="AMtx7mhhYAAv9HddFMO31dPSAez9Frjg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customschemas.google.com/relationships/presentationmetadata" Target="meta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21aea300a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b21aea300a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21aea300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b21aea300a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1828800"/>
            <a:ext cx="9144000" cy="320040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Forecasting U.S. Rental Affordability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457200" y="3783197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Time-Series Analysis of Top 20 High-Rent Markets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457200" y="5943600"/>
            <a:ext cx="822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Data Science Bootcamp Final Project | </a:t>
            </a:r>
            <a:r>
              <a:rPr lang="en-US" sz="1800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Sejona Sujit Das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Overview &amp; Dataset</a:t>
            </a:r>
            <a:endParaRPr/>
          </a:p>
        </p:txBody>
      </p:sp>
      <p:sp>
        <p:nvSpPr>
          <p:cNvPr id="94" name="Google Shape;94;p2"/>
          <p:cNvSpPr txBox="1"/>
          <p:nvPr/>
        </p:nvSpPr>
        <p:spPr>
          <a:xfrm>
            <a:off x="457200" y="1097280"/>
            <a:ext cx="42976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RESEARCH QUESTION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we build accurate forecasting models that substantially outperform naive baseline predictions?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7 models evaluated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Proper temporal splits (train/val/test)</a:t>
            </a:r>
            <a:endParaRPr/>
          </a:p>
        </p:txBody>
      </p:sp>
      <p:sp>
        <p:nvSpPr>
          <p:cNvPr id="95" name="Google Shape;95;p2"/>
          <p:cNvSpPr txBox="1"/>
          <p:nvPr/>
        </p:nvSpPr>
        <p:spPr>
          <a:xfrm>
            <a:off x="4937760" y="1097280"/>
            <a:ext cx="3749039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2,451 observations (2015-2025)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Top 20 highest-rent metros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Zillow ZORI + FRED data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11 engineered features</a:t>
            </a:r>
            <a:endParaRPr/>
          </a:p>
        </p:txBody>
      </p:sp>
      <p:pic>
        <p:nvPicPr>
          <p:cNvPr descr="rent_trends_sample.png" id="96" name="Google Shape;9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3200400"/>
            <a:ext cx="7680960" cy="3807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 txBox="1"/>
          <p:nvPr/>
        </p:nvSpPr>
        <p:spPr>
          <a:xfrm>
            <a:off x="457200" y="13716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Performance</a:t>
            </a:r>
            <a:endParaRPr/>
          </a:p>
        </p:txBody>
      </p:sp>
      <p:sp>
        <p:nvSpPr>
          <p:cNvPr id="103" name="Google Shape;103;p3"/>
          <p:cNvSpPr txBox="1"/>
          <p:nvPr/>
        </p:nvSpPr>
        <p:spPr>
          <a:xfrm>
            <a:off x="640080" y="1005840"/>
            <a:ext cx="78639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Best Model</a:t>
            </a:r>
            <a:r>
              <a:rPr b="1" i="0" lang="en-US" sz="2200" u="none" cap="none" strike="noStrik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: Ridge Regression | Test RMSE: $14.37 | </a:t>
            </a:r>
            <a:endParaRPr b="1" i="0" sz="2200" u="none" cap="none" strike="noStrike">
              <a:solidFill>
                <a:srgbClr val="0066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53.3% improvement over baseline</a:t>
            </a:r>
            <a:endParaRPr/>
          </a:p>
        </p:txBody>
      </p:sp>
      <p:pic>
        <p:nvPicPr>
          <p:cNvPr descr="model_comparison_comprehensive.png" id="104" name="Google Shape;10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2011680"/>
            <a:ext cx="7315200" cy="42364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 txBox="1"/>
          <p:nvPr/>
        </p:nvSpPr>
        <p:spPr>
          <a:xfrm>
            <a:off x="457200" y="137160"/>
            <a:ext cx="8229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Findings: Feature Importance &amp; Geographic Variation</a:t>
            </a:r>
            <a:endParaRPr sz="900"/>
          </a:p>
        </p:txBody>
      </p:sp>
      <p:sp>
        <p:nvSpPr>
          <p:cNvPr id="111" name="Google Shape;111;p4"/>
          <p:cNvSpPr txBox="1"/>
          <p:nvPr/>
        </p:nvSpPr>
        <p:spPr>
          <a:xfrm>
            <a:off x="457200" y="1267500"/>
            <a:ext cx="8229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Just 2 features explain 97% of predictions: 3-month rolling </a:t>
            </a:r>
            <a:r>
              <a:rPr b="1" lang="en-US" sz="18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average</a:t>
            </a:r>
            <a:r>
              <a:rPr b="1" i="0" lang="en-US" sz="18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 (72%) + previous month rent (25%)</a:t>
            </a:r>
            <a:endParaRPr/>
          </a:p>
        </p:txBody>
      </p:sp>
      <p:pic>
        <p:nvPicPr>
          <p:cNvPr descr="feature_importance_comparison.png" id="112" name="Google Shape;11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245800"/>
            <a:ext cx="8229597" cy="4144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21aea300a_0_3"/>
          <p:cNvSpPr/>
          <p:nvPr/>
        </p:nvSpPr>
        <p:spPr>
          <a:xfrm>
            <a:off x="0" y="0"/>
            <a:ext cx="9144000" cy="82290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g3b21aea300a_0_3"/>
          <p:cNvSpPr txBox="1"/>
          <p:nvPr/>
        </p:nvSpPr>
        <p:spPr>
          <a:xfrm>
            <a:off x="457200" y="137160"/>
            <a:ext cx="8229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Findings: Feature Importance &amp; Geographic Variation</a:t>
            </a:r>
            <a:endParaRPr sz="900"/>
          </a:p>
        </p:txBody>
      </p:sp>
      <p:sp>
        <p:nvSpPr>
          <p:cNvPr id="119" name="Google Shape;119;g3b21aea300a_0_3"/>
          <p:cNvSpPr txBox="1"/>
          <p:nvPr/>
        </p:nvSpPr>
        <p:spPr>
          <a:xfrm>
            <a:off x="457200" y="914400"/>
            <a:ext cx="8229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20" name="Google Shape;120;g3b21aea300a_0_3"/>
          <p:cNvSpPr txBox="1"/>
          <p:nvPr/>
        </p:nvSpPr>
        <p:spPr>
          <a:xfrm>
            <a:off x="457200" y="822899"/>
            <a:ext cx="8229600" cy="9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60000"/>
                </a:solidFill>
                <a:latin typeface="Calibri"/>
                <a:ea typeface="Calibri"/>
                <a:cs typeface="Calibri"/>
                <a:sym typeface="Calibri"/>
              </a:rPr>
              <a:t>Geographic Variation: San Francisco ($2.95 RMSE) vs Glenwood Springs ($41.99 RMSE)</a:t>
            </a:r>
            <a:endParaRPr b="1" i="0" sz="1500" u="none" cap="none" strike="noStrike">
              <a:solidFill>
                <a:srgbClr val="66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Large, mature markets with diverse economies are highly predictable. Small resort markets with tourism dependence and seasonal volatility remain challenging.</a:t>
            </a:r>
            <a:b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1600">
              <a:solidFill>
                <a:srgbClr val="66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est_worst_metro_comparison.png" id="121" name="Google Shape;121;g3b21aea300a_0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597700"/>
            <a:ext cx="8229600" cy="50774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Conclusions &amp; Real-World Impact</a:t>
            </a:r>
            <a:endParaRPr/>
          </a:p>
        </p:txBody>
      </p:sp>
      <p:sp>
        <p:nvSpPr>
          <p:cNvPr id="128" name="Google Shape;128;p5"/>
          <p:cNvSpPr txBox="1"/>
          <p:nvPr/>
        </p:nvSpPr>
        <p:spPr>
          <a:xfrm>
            <a:off x="640075" y="1097272"/>
            <a:ext cx="3931800" cy="40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KEY TAKEAWAYS</a:t>
            </a:r>
            <a:endParaRPr sz="2000"/>
          </a:p>
          <a:p>
            <a:pPr indent="-3683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AutoNum type="arabicPeriod"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Ridge/Linear beat Random Forest, etc.</a:t>
            </a:r>
            <a:endParaRPr b="1" sz="2000"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ental price </a:t>
            </a: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dynamics</a:t>
            </a: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are predominantly linear.</a:t>
            </a:r>
            <a:endParaRPr sz="1900"/>
          </a:p>
          <a:p>
            <a:pPr indent="-368300" lvl="0" marL="4572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AutoNum type="arabicPeriod"/>
            </a:pPr>
            <a:r>
              <a:rPr b="1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Recent history dominates</a:t>
            </a:r>
            <a:endParaRPr b="1" sz="2000"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3-month avg + lag explain 97% of variance</a:t>
            </a:r>
            <a:endParaRPr sz="2000"/>
          </a:p>
          <a:p>
            <a:pPr indent="-368300" lvl="0" marL="4572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AutoNum type="arabicPeriod"/>
            </a:pPr>
            <a:r>
              <a:rPr b="1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 practical accuracy</a:t>
            </a:r>
            <a:endParaRPr b="1" sz="2000"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±$28 prediction intervals (95% CI)</a:t>
            </a:r>
            <a:endParaRPr sz="2000"/>
          </a:p>
        </p:txBody>
      </p:sp>
      <p:sp>
        <p:nvSpPr>
          <p:cNvPr id="129" name="Google Shape;129;p5"/>
          <p:cNvSpPr txBox="1"/>
          <p:nvPr/>
        </p:nvSpPr>
        <p:spPr>
          <a:xfrm>
            <a:off x="4754875" y="1097267"/>
            <a:ext cx="3931800" cy="40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REAL-WORLD IMPACT</a:t>
            </a:r>
            <a:endParaRPr sz="2200"/>
          </a:p>
          <a:p>
            <a:pPr indent="-3810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Property Managers</a:t>
            </a:r>
            <a:endParaRPr b="1" sz="2200"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Optimize pricing &amp; revenue forecasts</a:t>
            </a:r>
            <a:endParaRPr sz="2200"/>
          </a:p>
          <a:p>
            <a:pPr indent="-381000" lvl="0" marL="4572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Investors</a:t>
            </a:r>
            <a:endParaRPr b="1" sz="2200"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Improve acquisition valuations</a:t>
            </a:r>
            <a:endParaRPr sz="2200"/>
          </a:p>
          <a:p>
            <a:pPr indent="-381000" lvl="0" marL="4572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Policymakers</a:t>
            </a:r>
            <a:endParaRPr b="1" sz="2200"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affordability challenges</a:t>
            </a:r>
            <a:endParaRPr sz="2200"/>
          </a:p>
        </p:txBody>
      </p:sp>
      <p:sp>
        <p:nvSpPr>
          <p:cNvPr id="130" name="Google Shape;130;p5"/>
          <p:cNvSpPr txBox="1"/>
          <p:nvPr/>
        </p:nvSpPr>
        <p:spPr>
          <a:xfrm>
            <a:off x="640080" y="4114800"/>
            <a:ext cx="7863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b21aea300a_0_12"/>
          <p:cNvSpPr/>
          <p:nvPr/>
        </p:nvSpPr>
        <p:spPr>
          <a:xfrm>
            <a:off x="0" y="0"/>
            <a:ext cx="9144000" cy="82290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g3b21aea300a_0_12"/>
          <p:cNvSpPr txBox="1"/>
          <p:nvPr/>
        </p:nvSpPr>
        <p:spPr>
          <a:xfrm>
            <a:off x="457200" y="13716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Conclusions &amp; Real-World Impact</a:t>
            </a:r>
            <a:endParaRPr/>
          </a:p>
        </p:txBody>
      </p:sp>
      <p:sp>
        <p:nvSpPr>
          <p:cNvPr id="137" name="Google Shape;137;g3b21aea300a_0_12"/>
          <p:cNvSpPr txBox="1"/>
          <p:nvPr/>
        </p:nvSpPr>
        <p:spPr>
          <a:xfrm>
            <a:off x="640080" y="1097280"/>
            <a:ext cx="3931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b21aea300a_0_12"/>
          <p:cNvSpPr txBox="1"/>
          <p:nvPr/>
        </p:nvSpPr>
        <p:spPr>
          <a:xfrm>
            <a:off x="4754880" y="1097280"/>
            <a:ext cx="3931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b21aea300a_0_12"/>
          <p:cNvSpPr txBox="1"/>
          <p:nvPr/>
        </p:nvSpPr>
        <p:spPr>
          <a:xfrm>
            <a:off x="640075" y="1097275"/>
            <a:ext cx="78639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RECOMMENDATION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Deploy Ridge Regression (α=0.1) as production forecasting model for high-rent markets. Monitor residuals monthly for regime change detection. This simple, interpretable model provides optimal accuracy while remaining easy to maintain and explain to stakeholders.</a:t>
            </a:r>
            <a:endParaRPr/>
          </a:p>
        </p:txBody>
      </p:sp>
      <p:pic>
        <p:nvPicPr>
          <p:cNvPr descr="actual_vs_predicted_all_models.png" id="140" name="Google Shape;140;g3b21aea300a_0_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7275" y="2351332"/>
            <a:ext cx="6949453" cy="4323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